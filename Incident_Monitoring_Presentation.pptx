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73152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5A623"/>
                </a:solidFill>
                <a:latin typeface="Calibri"/>
              </a:rPr>
              <a:t>ПРАКТИЧЕСКАЯ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Мониторинг инцидентов информационной безопасности, выявление и устранение последствий компьютерных инцидентов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C9D6E8"/>
                </a:solidFill>
                <a:latin typeface="Calibri"/>
              </a:rPr>
              <a:t>Памятка для пользователей · Дашборд Wazuh · Разбор инцидента с ВПО на порту 4444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7315200" cy="5970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 err="1">
                <a:solidFill>
                  <a:srgbClr val="C9D6E8"/>
                </a:solidFill>
                <a:latin typeface="Calibri"/>
              </a:rPr>
              <a:t>Выполнил</a:t>
            </a:r>
            <a:r>
              <a:rPr sz="1600" b="0" i="0" dirty="0">
                <a:solidFill>
                  <a:srgbClr val="C9D6E8"/>
                </a:solidFill>
                <a:latin typeface="Calibri"/>
              </a:rPr>
              <a:t>: </a:t>
            </a:r>
            <a:r>
              <a:rPr lang="ru-RU" sz="1600" dirty="0" smtClean="0">
                <a:solidFill>
                  <a:srgbClr val="C9D6E8"/>
                </a:solidFill>
                <a:latin typeface="Calibri"/>
              </a:rPr>
              <a:t>Козырев Дмитрий Александрович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600" b="0" i="0" dirty="0" err="1">
                <a:solidFill>
                  <a:srgbClr val="C9D6E8"/>
                </a:solidFill>
                <a:latin typeface="Calibri"/>
              </a:rPr>
              <a:t>Группа</a:t>
            </a:r>
            <a:r>
              <a:rPr sz="1600" b="0" i="0" dirty="0">
                <a:solidFill>
                  <a:srgbClr val="C9D6E8"/>
                </a:solidFill>
                <a:latin typeface="Calibri"/>
              </a:rPr>
              <a:t>: </a:t>
            </a:r>
            <a:r>
              <a:rPr lang="ru-RU" sz="1600" dirty="0" smtClean="0">
                <a:solidFill>
                  <a:srgbClr val="FFFFFF"/>
                </a:solidFill>
                <a:latin typeface="Calibri"/>
              </a:rPr>
              <a:t>КБС-801</a:t>
            </a:r>
            <a:r>
              <a:rPr sz="1600" b="0" i="0" dirty="0" smtClean="0">
                <a:solidFill>
                  <a:srgbClr val="C9D6E8"/>
                </a:solidFill>
                <a:latin typeface="Calibri"/>
              </a:rPr>
              <a:t>      </a:t>
            </a:r>
            <a:r>
              <a:rPr sz="1600" b="0" i="0" dirty="0" err="1">
                <a:solidFill>
                  <a:srgbClr val="C9D6E8"/>
                </a:solidFill>
                <a:latin typeface="Calibri"/>
              </a:rPr>
              <a:t>Дата</a:t>
            </a:r>
            <a:r>
              <a:rPr sz="1600" b="0" i="0" dirty="0">
                <a:solidFill>
                  <a:srgbClr val="C9D6E8"/>
                </a:solidFill>
                <a:latin typeface="Calibri"/>
              </a:rPr>
              <a:t>: 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22.10.2026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Цель и план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E5AA8"/>
                </a:solidFill>
                <a:latin typeface="Calibri"/>
              </a:rPr>
              <a:t>Цель: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сформировать умения и навыки мониторинга инцидентов ИБ, выявления и устранения последствий компьютерных инцидентов.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40280"/>
            <a:ext cx="265176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2651760" cy="109728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2286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5AA8"/>
                </a:solidFill>
                <a:latin typeface="Calibri"/>
              </a:rPr>
              <a:t>Шаг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22860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F2937"/>
                </a:solidFill>
                <a:latin typeface="Calibri"/>
              </a:rPr>
              <a:t>Инструктаж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224028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B6675"/>
                </a:solidFill>
                <a:latin typeface="Calibri"/>
              </a:rPr>
              <a:t>Памятка «10 правил безопасной работы в Windows»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240280"/>
            <a:ext cx="265176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2240280"/>
            <a:ext cx="2651760" cy="109728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2560320"/>
            <a:ext cx="2286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E8C7F"/>
                </a:solidFill>
                <a:latin typeface="Calibri"/>
              </a:rPr>
              <a:t>Шаг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971800"/>
            <a:ext cx="22860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F2937"/>
                </a:solidFill>
                <a:latin typeface="Calibri"/>
              </a:rPr>
              <a:t>Мониторинг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657600"/>
            <a:ext cx="224028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B6675"/>
                </a:solidFill>
                <a:latin typeface="Calibri"/>
              </a:rPr>
              <a:t>Дашборд Wazuh: блокировки антивируса за 24 часа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240280"/>
            <a:ext cx="265176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2240280"/>
            <a:ext cx="2651760" cy="1097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560320"/>
            <a:ext cx="2286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C62828"/>
                </a:solidFill>
                <a:latin typeface="Calibri"/>
              </a:rPr>
              <a:t>Шаг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71800"/>
            <a:ext cx="22860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F2937"/>
                </a:solidFill>
                <a:latin typeface="Calibri"/>
              </a:rPr>
              <a:t>Инцидент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657600"/>
            <a:ext cx="224028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B6675"/>
                </a:solidFill>
                <a:latin typeface="Calibri"/>
              </a:rPr>
              <a:t>Исходящие соединения 192.168.1.55 → TCP/4444: локализация, блокировка, удаление ВПО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240280"/>
            <a:ext cx="2651760" cy="3291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1120" y="2240280"/>
            <a:ext cx="2651760" cy="109728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20" y="2560320"/>
            <a:ext cx="2286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E86A1C"/>
                </a:solidFill>
                <a:latin typeface="Calibri"/>
              </a:rPr>
              <a:t>Шаг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971800"/>
            <a:ext cx="22860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F2937"/>
                </a:solidFill>
                <a:latin typeface="Calibri"/>
              </a:rPr>
              <a:t>Оформление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657600"/>
            <a:ext cx="224028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B6675"/>
                </a:solidFill>
                <a:latin typeface="Calibri"/>
              </a:rPr>
              <a:t>Результаты оформлены в виде презентации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Памятка «10 правил безопасной работы в Windows»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532120" cy="868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4360" y="1389888"/>
            <a:ext cx="566928" cy="566928"/>
          </a:xfrm>
          <a:prstGeom prst="ellipse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566928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07592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Обновляйте систему и программы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664208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Windows Update и автообновления включены всегда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21992"/>
            <a:ext cx="5532120" cy="868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4360" y="2377440"/>
            <a:ext cx="566928" cy="566928"/>
          </a:xfrm>
          <a:prstGeom prst="ellipse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377440"/>
            <a:ext cx="566928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295144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Не отключайте защиту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65176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Defender и брандмауэр включены, без «исключений»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9544"/>
            <a:ext cx="5532120" cy="868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4360" y="3364992"/>
            <a:ext cx="566928" cy="566928"/>
          </a:xfrm>
          <a:prstGeom prst="ellipse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364992"/>
            <a:ext cx="566928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282696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Работайте без прав администратора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639312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Неожиданный запрос UAC — повод отказаться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97096"/>
            <a:ext cx="5532120" cy="868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4360" y="4352544"/>
            <a:ext cx="566928" cy="566928"/>
          </a:xfrm>
          <a:prstGeom prst="ellipse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352544"/>
            <a:ext cx="566928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270248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Надёжные пароли и MFA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626864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От 12 символов, уникальные, менеджер паролей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84648"/>
            <a:ext cx="5532120" cy="868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4360" y="5340096"/>
            <a:ext cx="566928" cy="566928"/>
          </a:xfrm>
          <a:prstGeom prst="ellipse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5340096"/>
            <a:ext cx="566928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25780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Распознавайте фишинг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614416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Проверяйте отправителя и ссылки, не открывайте .exe/.js/макросы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1234440"/>
            <a:ext cx="5532120" cy="868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09360" y="1389888"/>
            <a:ext cx="566928" cy="566928"/>
          </a:xfrm>
          <a:prstGeom prst="ellipse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1389888"/>
            <a:ext cx="566928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1307592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Только разрешённое ПО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1664208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Из официальных источников, без «кряков» и кейгенов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221992"/>
            <a:ext cx="5532120" cy="868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309360" y="2377440"/>
            <a:ext cx="566928" cy="566928"/>
          </a:xfrm>
          <a:prstGeom prst="ellipse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2377440"/>
            <a:ext cx="566928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2295144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Блокируйте экран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265176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Win + L, когда уходите; автоблокировка 5–10 мин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209544"/>
            <a:ext cx="5532120" cy="868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309360" y="3364992"/>
            <a:ext cx="566928" cy="566928"/>
          </a:xfrm>
          <a:prstGeom prst="ellipse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9360" y="3364992"/>
            <a:ext cx="566928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3282696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Осторожно с USB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3639312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Не подключайте чужие флешки, автозапуск выключен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4197096"/>
            <a:ext cx="5532120" cy="868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309360" y="4352544"/>
            <a:ext cx="566928" cy="566928"/>
          </a:xfrm>
          <a:prstGeom prst="ellipse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09360" y="4352544"/>
            <a:ext cx="566928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4270248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Делайте резервные копии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4626864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Правило 3-2-1, важное — на сетевом диске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5184648"/>
            <a:ext cx="5532120" cy="868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309360" y="5340096"/>
            <a:ext cx="566928" cy="56692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09360" y="5340096"/>
            <a:ext cx="566928" cy="56692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525780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Сообщайте об инцидентах сразу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5614416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Отключите сеть, не выключайте ПК, звоните в ИБ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6675"/>
                </a:solidFill>
                <a:latin typeface="Calibri"/>
              </a:rPr>
              <a:t>Контакты службы ИБ: тел. ____, e-mail ____ · Памятку разместить на рабочих местах и во внутреннем портале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Источник событий: журнал Microsoft Defender на агенте</a:t>
            </a:r>
          </a:p>
        </p:txBody>
      </p:sp>
      <p:pic>
        <p:nvPicPr>
          <p:cNvPr id="7" name="Picture 6" descr="01_ossec.png"/>
          <p:cNvPicPr>
            <a:picLocks noChangeAspect="1"/>
          </p:cNvPicPr>
          <p:nvPr/>
        </p:nvPicPr>
        <p:blipFill rotWithShape="1">
          <a:blip r:embed="rId2"/>
          <a:srcRect l="-543" b="6124"/>
          <a:stretch/>
        </p:blipFill>
        <p:spPr>
          <a:xfrm>
            <a:off x="369277" y="1188720"/>
            <a:ext cx="7814603" cy="410424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1188720"/>
            <a:ext cx="7772400" cy="4371975"/>
          </a:xfrm>
          <a:prstGeom prst="rect">
            <a:avLst/>
          </a:prstGeom>
          <a:noFill/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0378" y="5289672"/>
            <a:ext cx="7772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 dirty="0" err="1">
                <a:solidFill>
                  <a:srgbClr val="5B6675"/>
                </a:solidFill>
                <a:latin typeface="Calibri"/>
              </a:rPr>
              <a:t>Рис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. 1.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Добавление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журнала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 Defender в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ossec.conf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агента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 и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перезапуск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службы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Wazuh</a:t>
            </a:r>
            <a:endParaRPr sz="1100" b="0" i="0" dirty="0">
              <a:solidFill>
                <a:srgbClr val="5B6675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12480" y="1188720"/>
            <a:ext cx="3383280" cy="5074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188720"/>
            <a:ext cx="64008" cy="507492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280160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5AA8"/>
                </a:solidFill>
                <a:latin typeface="Calibri"/>
              </a:rPr>
              <a:t>Коды событий Defender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691640"/>
            <a:ext cx="777240" cy="384048"/>
          </a:xfrm>
          <a:prstGeom prst="round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1691640"/>
            <a:ext cx="7772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1116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1673352"/>
            <a:ext cx="22860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обнаружено ВПО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2258568"/>
            <a:ext cx="777240" cy="384048"/>
          </a:xfrm>
          <a:prstGeom prst="round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258568"/>
            <a:ext cx="7772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1117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240280"/>
            <a:ext cx="22860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угроза заблокирована / в карантине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2825496"/>
            <a:ext cx="777240" cy="384048"/>
          </a:xfrm>
          <a:prstGeom prst="round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2825496"/>
            <a:ext cx="7772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1118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807208"/>
            <a:ext cx="22860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выполняется действие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3392424"/>
            <a:ext cx="777240" cy="384048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3392424"/>
            <a:ext cx="7772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1119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374136"/>
            <a:ext cx="22860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действие не удалось — разбор в 1-ю очередь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3959352"/>
            <a:ext cx="777240" cy="384048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0" y="3959352"/>
            <a:ext cx="7772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941064"/>
            <a:ext cx="22860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выключена защита в реальном времени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4526280"/>
            <a:ext cx="777240" cy="384048"/>
          </a:xfrm>
          <a:prstGeom prst="round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95360" y="4526280"/>
            <a:ext cx="7772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5007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4507992"/>
            <a:ext cx="22860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изменены настройки Defender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5166360"/>
            <a:ext cx="31089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6675"/>
                </a:solidFill>
                <a:latin typeface="Calibri"/>
              </a:rPr>
              <a:t>Канал: Microsoft-Windows-Windows Defender/Operational, формат eventchannel.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Правила Wazuh для блокировок антивируса</a:t>
            </a:r>
          </a:p>
        </p:txBody>
      </p:sp>
      <p:pic>
        <p:nvPicPr>
          <p:cNvPr id="7" name="Picture 6" descr="02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772400" cy="43719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1188720"/>
            <a:ext cx="7772400" cy="4371975"/>
          </a:xfrm>
          <a:prstGeom prst="rect">
            <a:avLst/>
          </a:prstGeom>
          <a:noFill/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5597271"/>
            <a:ext cx="7772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5"/>
                </a:solidFill>
                <a:latin typeface="Calibri"/>
              </a:rPr>
              <a:t>Рис. 2. Управление сервером → Правила → local_rules.xml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188720"/>
            <a:ext cx="3383280" cy="5074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188720"/>
            <a:ext cx="64008" cy="507492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280160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5AA8"/>
                </a:solidFill>
                <a:latin typeface="Calibri"/>
              </a:rPr>
              <a:t>Что настроено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00200"/>
            <a:ext cx="310896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50" b="1" i="0">
                <a:solidFill>
                  <a:srgbClr val="1F2937"/>
                </a:solidFill>
                <a:latin typeface="Calibri"/>
              </a:rPr>
              <a:t>100100 (уровень 8) —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угроза заблокирована (EventID 1117)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50" b="1" i="0">
                <a:solidFill>
                  <a:srgbClr val="1F2937"/>
                </a:solidFill>
                <a:latin typeface="Calibri"/>
              </a:rPr>
              <a:t>100101 (уровень 12) —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обезвредить не удалось (1119)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50" b="1" i="0">
                <a:solidFill>
                  <a:srgbClr val="1F2937"/>
                </a:solidFill>
                <a:latin typeface="Calibri"/>
              </a:rPr>
              <a:t>100102 (уровень 12) —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5+ блокировок за час на одном узле: признак активного заражения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50" b="1" i="0">
                <a:solidFill>
                  <a:srgbClr val="1F2937"/>
                </a:solidFill>
                <a:latin typeface="Calibri"/>
              </a:rPr>
              <a:t>Группа av_block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объединяет события для фильтра дашборда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Проверка правил: /var/ossec/bin/wazuh-logtest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Применение: перезапуск wazuh-manager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Поиск событий за сутки в Discover</a:t>
            </a:r>
          </a:p>
        </p:txBody>
      </p:sp>
      <p:pic>
        <p:nvPicPr>
          <p:cNvPr id="7" name="Picture 6" descr="03_dis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772400" cy="43719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1188720"/>
            <a:ext cx="7772400" cy="4371975"/>
          </a:xfrm>
          <a:prstGeom prst="rect">
            <a:avLst/>
          </a:prstGeom>
          <a:noFill/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5597271"/>
            <a:ext cx="7772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5"/>
                </a:solidFill>
                <a:latin typeface="Calibri"/>
              </a:rPr>
              <a:t>Рис. 3. Discover: DQL-запрос по группе av_block, период «Последние 24 часа»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188720"/>
            <a:ext cx="3383280" cy="5074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188720"/>
            <a:ext cx="64008" cy="507492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280160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5AA8"/>
                </a:solidFill>
                <a:latin typeface="Calibri"/>
              </a:rPr>
              <a:t>Запрос и поля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00200"/>
            <a:ext cx="310896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Индекс: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wazuh-alerts-*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DQL: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rule.groups:"av_block" or data.win.system.eventID:(1116 or 1117 or 1119)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Период: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Последние 24 часа, автообновление 1 мин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Поля: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agent.name, threatName, path, rule.level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Запрос сохранён как «AV blocks 24h» и используется во всех панелях дашборда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Наблюдение: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всплеск событий на WS-ACC-07 после 10:30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Дашборд «Антивирус: блокировки за 24 часа»</a:t>
            </a:r>
          </a:p>
        </p:txBody>
      </p:sp>
      <p:pic>
        <p:nvPicPr>
          <p:cNvPr id="7" name="Picture 6" descr="0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877824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1143000"/>
            <a:ext cx="8778240" cy="4937759"/>
          </a:xfrm>
          <a:prstGeom prst="rect">
            <a:avLst/>
          </a:prstGeom>
          <a:noFill/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117336"/>
            <a:ext cx="8778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5"/>
                </a:solidFill>
                <a:latin typeface="Calibri"/>
              </a:rPr>
              <a:t>Рис. 4. Итоговый дашборд Wazuh (Explore → Dashboards)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1143000"/>
            <a:ext cx="2377440" cy="52578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18320" y="1143000"/>
            <a:ext cx="64008" cy="525780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1234440"/>
            <a:ext cx="21031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5AA8"/>
                </a:solidFill>
                <a:latin typeface="Calibri"/>
              </a:rPr>
              <a:t>Панели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1554480"/>
            <a:ext cx="2194560" cy="4846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Metric: всего событий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Metric: заблокировано (1117)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Metric: не удалось (1119)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Metric: затронуто узлов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Area: динамика по часам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Donut: топ угроз (threatName)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Bar: узлы (agent.name)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Таблица: последние события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Исходные данные: журнал межсетевого экрана</a:t>
            </a:r>
          </a:p>
        </p:txBody>
      </p:sp>
      <p:pic>
        <p:nvPicPr>
          <p:cNvPr id="7" name="Picture 6" descr="05_fw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772400" cy="43719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1188720"/>
            <a:ext cx="7772400" cy="4371975"/>
          </a:xfrm>
          <a:prstGeom prst="rect">
            <a:avLst/>
          </a:prstGeom>
          <a:noFill/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5597271"/>
            <a:ext cx="7772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5"/>
                </a:solidFill>
                <a:latin typeface="Calibri"/>
              </a:rPr>
              <a:t>Рис. 5. pfSense: Состояние → Системные журналы → Межсетевой экран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188720"/>
            <a:ext cx="3383280" cy="5074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188720"/>
            <a:ext cx="64008" cy="507492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280160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5AA8"/>
                </a:solidFill>
                <a:latin typeface="Calibri"/>
              </a:rPr>
              <a:t>Признаки компрометации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00200"/>
            <a:ext cx="310896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Источник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192.168.1.55 — внутренний адрес (RFC 1918), соединения инициирует он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Порт 4444 —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порт по умолчанию Metasploit / Meterpreter (reverse shell)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Интервал 30 с —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«маяк» (beaconing) к серверу управления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Назначение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203.0.113.77 — предполагаемый C2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Трафик разрешён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правилом «allow LAN to any»: нет фильтрации исходящих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Какое устройство заражено</a:t>
            </a:r>
          </a:p>
        </p:txBody>
      </p:sp>
      <p:pic>
        <p:nvPicPr>
          <p:cNvPr id="7" name="Picture 6" descr="07_cmd.png"/>
          <p:cNvPicPr>
            <a:picLocks noChangeAspect="1"/>
          </p:cNvPicPr>
          <p:nvPr/>
        </p:nvPicPr>
        <p:blipFill rotWithShape="1">
          <a:blip r:embed="rId2"/>
          <a:srcRect l="249" b="4112"/>
          <a:stretch/>
        </p:blipFill>
        <p:spPr>
          <a:xfrm>
            <a:off x="430822" y="1188721"/>
            <a:ext cx="7753057" cy="419217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1188720"/>
            <a:ext cx="7772400" cy="4371975"/>
          </a:xfrm>
          <a:prstGeom prst="rect">
            <a:avLst/>
          </a:prstGeom>
          <a:noFill/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5337107"/>
            <a:ext cx="7772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 dirty="0" err="1">
                <a:solidFill>
                  <a:srgbClr val="5B6675"/>
                </a:solidFill>
                <a:latin typeface="Calibri"/>
              </a:rPr>
              <a:t>Рис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. 6.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Проверка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на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узле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: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имя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адрес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процесс-владелец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соединения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хэш</a:t>
            </a:r>
            <a:r>
              <a:rPr sz="1100" b="0" i="0" dirty="0">
                <a:solidFill>
                  <a:srgbClr val="5B6675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5B6675"/>
                </a:solidFill>
                <a:latin typeface="Calibri"/>
              </a:rPr>
              <a:t>файла</a:t>
            </a:r>
            <a:endParaRPr sz="1100" b="0" i="0" dirty="0">
              <a:solidFill>
                <a:srgbClr val="5B6675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12480" y="1188720"/>
            <a:ext cx="3383280" cy="2788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188720"/>
            <a:ext cx="64008" cy="27889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280160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C62828"/>
                </a:solidFill>
                <a:latin typeface="Calibri"/>
              </a:rPr>
              <a:t>Заражённый узел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00200"/>
            <a:ext cx="310896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C62828"/>
                </a:solidFill>
                <a:latin typeface="Calibri"/>
              </a:rPr>
              <a:t>WS-ACC-07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350" b="1" i="0">
                <a:solidFill>
                  <a:srgbClr val="1F2937"/>
                </a:solidFill>
                <a:latin typeface="Calibri"/>
              </a:rPr>
              <a:t>IP: </a:t>
            </a:r>
            <a:r>
              <a:rPr sz="1350" b="0" i="0">
                <a:solidFill>
                  <a:srgbClr val="1F2937"/>
                </a:solidFill>
                <a:latin typeface="Consolas"/>
              </a:rPr>
              <a:t>192.168.1.55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2937"/>
                </a:solidFill>
                <a:latin typeface="Calibri"/>
              </a:rPr>
              <a:t>MAC: </a:t>
            </a:r>
            <a:r>
              <a:rPr sz="1350" b="0" i="0">
                <a:solidFill>
                  <a:srgbClr val="1F2937"/>
                </a:solidFill>
                <a:latin typeface="Consolas"/>
              </a:rPr>
              <a:t>3C-52-82-1A-4F-9D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2937"/>
                </a:solidFill>
                <a:latin typeface="Calibri"/>
              </a:rPr>
              <a:t>Пользователь: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CORP\dmitry.kozyrev</a:t>
            </a:r>
          </a:p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F2937"/>
                </a:solidFill>
                <a:latin typeface="Calibri"/>
              </a:rPr>
              <a:t>Процесс: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svch0st.exe, PID 6132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4114800"/>
            <a:ext cx="3383280" cy="21488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80" y="4114800"/>
            <a:ext cx="64008" cy="214884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59" y="4206240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5AA8"/>
                </a:solidFill>
                <a:latin typeface="Calibri"/>
              </a:rPr>
              <a:t>Как установлено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480560"/>
            <a:ext cx="310896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DHCP-аренда и ARP → MAC и имя узла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netstat -ano → PID владельца соединения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85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Wazuh: 19 срабатываний Defender на этом узле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Правила на МЭ: блокировка заражённого узла</a:t>
            </a:r>
          </a:p>
        </p:txBody>
      </p:sp>
      <p:pic>
        <p:nvPicPr>
          <p:cNvPr id="7" name="Picture 6" descr="06_fw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772400" cy="43719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1188720"/>
            <a:ext cx="7772400" cy="4371975"/>
          </a:xfrm>
          <a:prstGeom prst="rect">
            <a:avLst/>
          </a:prstGeom>
          <a:noFill/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5597271"/>
            <a:ext cx="7772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5"/>
                </a:solidFill>
                <a:latin typeface="Calibri"/>
              </a:rPr>
              <a:t>Рис. 7. pfSense: Межсетевой экран → Правила → LAN; правила выше «allow any»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188720"/>
            <a:ext cx="3383280" cy="25146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188720"/>
            <a:ext cx="64008" cy="2514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280160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C62828"/>
                </a:solidFill>
                <a:latin typeface="Calibri"/>
              </a:rPr>
              <a:t>Добавленные правила (Block, журнал)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00200"/>
            <a:ext cx="3108960" cy="2103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1.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192.168.1.55 → any: изоляция узла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2.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LAN → 203.0.113.77: блок C2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3.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LAN → any TCP/4444: блок порта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3840480"/>
            <a:ext cx="3383280" cy="242316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3931920"/>
            <a:ext cx="3108960" cy="224027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3"/>
                </a:solidFill>
                <a:latin typeface="Consolas"/>
              </a:rPr>
              <a:t># аналог на Linux (iptables)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3"/>
                </a:solidFill>
                <a:latin typeface="Consolas"/>
              </a:rPr>
              <a:t>iptables -I FORWARD 1 \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-s 192.168.1.55 -j DROP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3"/>
                </a:solidFill>
                <a:latin typeface="Consolas"/>
              </a:rPr>
              <a:t>iptables -I FORWARD 2 \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-d 203.0.113.77 -j DROP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3"/>
                </a:solidFill>
                <a:latin typeface="Consolas"/>
              </a:rPr>
              <a:t>iptables -I FORWARD 3 -p tcp \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--dport 4444 -j DROP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Удаление ВПО: поиск процесса в Process Explorer</a:t>
            </a:r>
          </a:p>
        </p:txBody>
      </p:sp>
      <p:pic>
        <p:nvPicPr>
          <p:cNvPr id="7" name="Picture 6" descr="08_proc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772400" cy="43719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1188720"/>
            <a:ext cx="7772400" cy="4371975"/>
          </a:xfrm>
          <a:prstGeom prst="rect">
            <a:avLst/>
          </a:prstGeom>
          <a:noFill/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5597271"/>
            <a:ext cx="7772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5"/>
                </a:solidFill>
                <a:latin typeface="Calibri"/>
              </a:rPr>
              <a:t>Рис. 8. Process Explorer: неподписанный процесс svch0st.exe с оценкой VirusTotal 52/72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188720"/>
            <a:ext cx="3383280" cy="5074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188720"/>
            <a:ext cx="64008" cy="507492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280160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5AA8"/>
                </a:solidFill>
                <a:latin typeface="Calibri"/>
              </a:rPr>
              <a:t>Действия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00200"/>
            <a:ext cx="310896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Запуск procexp64.exe от администратора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Options → Verify Image Signatures, Check VirusTotal.com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Признаки: нет подписи, имя «под» svchost.exe, путь в %AppData%, родитель explorer.exe, дочерний cmd.exe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Сохранить дамп: Create Dump → Full Dump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Suspend,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затем Kill Process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Process Explorer: свойства процесса и сетевые соединения</a:t>
            </a:r>
          </a:p>
        </p:txBody>
      </p:sp>
      <p:pic>
        <p:nvPicPr>
          <p:cNvPr id="7" name="Picture 6" descr="09_pr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772400" cy="43719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1188720"/>
            <a:ext cx="7772400" cy="4371975"/>
          </a:xfrm>
          <a:prstGeom prst="rect">
            <a:avLst/>
          </a:prstGeom>
          <a:noFill/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5597271"/>
            <a:ext cx="7772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5"/>
                </a:solidFill>
                <a:latin typeface="Calibri"/>
              </a:rPr>
              <a:t>Рис. 9. Вкладки Image и TCP/IP: путь, командная строка, автозапуск, соединения с 203.0.113.77:4444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188720"/>
            <a:ext cx="3383280" cy="5074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188720"/>
            <a:ext cx="64008" cy="507492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280160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5AA8"/>
                </a:solidFill>
                <a:latin typeface="Calibri"/>
              </a:rPr>
              <a:t>Индикаторы (IoC)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00200"/>
            <a:ext cx="310896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Файл: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%AppData%\Roaming\Microsoft\svch0st.exe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SHA-256: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9f2c7a51…c9a7f213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C2: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203.0.113.77:4444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Автозапуск: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HKCU\…\Run\WindowsUpdateSvc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Запущен: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22.10.2026 10:39:58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IoC переданы в Wazuh (CDB-список) и на МЭ для поиска на других узлах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Удаление ВПО: точки закрепления в Autoruns</a:t>
            </a:r>
          </a:p>
        </p:txBody>
      </p:sp>
      <p:pic>
        <p:nvPicPr>
          <p:cNvPr id="7" name="Picture 6" descr="10_auto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772400" cy="43719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1188720"/>
            <a:ext cx="7772400" cy="4371975"/>
          </a:xfrm>
          <a:prstGeom prst="rect">
            <a:avLst/>
          </a:prstGeom>
          <a:noFill/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5597271"/>
            <a:ext cx="7772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5"/>
                </a:solidFill>
                <a:latin typeface="Calibri"/>
              </a:rPr>
              <a:t>Рис. 10. Autoruns: скрыты записи Microsoft/Windows, неподписанные записи выделены розовым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188720"/>
            <a:ext cx="3383280" cy="5074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188720"/>
            <a:ext cx="64008" cy="507492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280160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5AA8"/>
                </a:solidFill>
                <a:latin typeface="Calibri"/>
              </a:rPr>
              <a:t>Найдено и удалено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00200"/>
            <a:ext cx="310896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Run (HKCU):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WindowsUpdateSvc → svch0st.exe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Startup: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update.lnk → upd_8812.exe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Scheduled Task: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WinSvcHelper → скрытый PowerShell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Service: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WinNetHelper (файл не найден, жёлтый)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WMI: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подписка WinSvcFilter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Порядок: снять галочку → Delete; экспорт File → Save до удаления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Очистка и контроль результата</a:t>
            </a:r>
          </a:p>
        </p:txBody>
      </p:sp>
      <p:pic>
        <p:nvPicPr>
          <p:cNvPr id="7" name="Picture 6" descr="11_verify.png"/>
          <p:cNvPicPr>
            <a:picLocks noChangeAspect="1"/>
          </p:cNvPicPr>
          <p:nvPr/>
        </p:nvPicPr>
        <p:blipFill rotWithShape="1">
          <a:blip r:embed="rId2"/>
          <a:srcRect l="-90" b="4917"/>
          <a:stretch/>
        </p:blipFill>
        <p:spPr>
          <a:xfrm>
            <a:off x="404446" y="1188720"/>
            <a:ext cx="7779434" cy="41570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1188720"/>
            <a:ext cx="7772400" cy="4371975"/>
          </a:xfrm>
          <a:prstGeom prst="rect">
            <a:avLst/>
          </a:prstGeom>
          <a:noFill/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4446" y="5345723"/>
            <a:ext cx="7772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5"/>
                </a:solidFill>
                <a:latin typeface="Calibri"/>
              </a:rPr>
              <a:t>Рис. 11. PowerShell: удаление файлов, полное сканирование Defender, проверка после перезагрузки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188720"/>
            <a:ext cx="3383280" cy="5074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1188720"/>
            <a:ext cx="64008" cy="5074920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1280160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5AA8"/>
                </a:solidFill>
                <a:latin typeface="Calibri"/>
              </a:rPr>
              <a:t>Шаги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00200"/>
            <a:ext cx="310896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Удалить файлы ВПО, задание и WMI-подписку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Обновить сигнатуры и выполнить полное сканирование (+ второй сканер, офлайн-проверка)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Перезагрузка, повторный запуск Process Explorer / Autoruns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Соединений на 4444 нет, автозапуск не восстановился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Сменить пароли пользователя и админов, входивших на ПК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00" b="0" i="0">
                <a:solidFill>
                  <a:srgbClr val="E86A1C"/>
                </a:solidFill>
                <a:latin typeface="Calibri"/>
              </a:rPr>
              <a:t>■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При сомнениях — переустановка из эталонного образа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Хронология реагирования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11880"/>
            <a:ext cx="10789920" cy="54864"/>
          </a:xfrm>
          <a:prstGeom prst="rect">
            <a:avLst/>
          </a:prstGeom>
          <a:solidFill>
            <a:srgbClr val="D5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3474720"/>
            <a:ext cx="329184" cy="329184"/>
          </a:xfrm>
          <a:prstGeom prst="ellipse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1371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E86A1C"/>
                </a:solidFill>
                <a:latin typeface="Calibri"/>
              </a:rPr>
              <a:t>10:37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19" y="1371600"/>
            <a:ext cx="1463040" cy="1371600"/>
          </a:xfrm>
          <a:prstGeom prst="rect">
            <a:avLst/>
          </a:prstGeom>
          <a:noFill/>
        </p:spPr>
        <p:txBody>
          <a:bodyPr wrap="square" lIns="45720" tIns="27432" rIns="45720" bIns="27432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Пользователь открыл вложение «Акт_сверки_окт.pdf.exe»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347472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48840" y="3977639"/>
            <a:ext cx="1371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C62828"/>
                </a:solidFill>
                <a:latin typeface="Calibri"/>
              </a:rPr>
              <a:t>10:39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434840"/>
            <a:ext cx="146304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Запуск svch0st.exe, закрепление в Run, задачах, WMI</a:t>
            </a:r>
          </a:p>
        </p:txBody>
      </p:sp>
      <p:sp>
        <p:nvSpPr>
          <p:cNvPr id="14" name="Oval 13"/>
          <p:cNvSpPr/>
          <p:nvPr/>
        </p:nvSpPr>
        <p:spPr>
          <a:xfrm>
            <a:off x="4251959" y="347472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39" y="2834640"/>
            <a:ext cx="1371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C62828"/>
                </a:solidFill>
                <a:latin typeface="Calibri"/>
              </a:rPr>
              <a:t>10:40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1371600"/>
            <a:ext cx="1463040" cy="1371600"/>
          </a:xfrm>
          <a:prstGeom prst="rect">
            <a:avLst/>
          </a:prstGeom>
          <a:noFill/>
        </p:spPr>
        <p:txBody>
          <a:bodyPr wrap="square" lIns="45720" tIns="27432" rIns="45720" bIns="27432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Первые соединения 192.168.1.55 → 203.0.113.77:4444</a:t>
            </a:r>
          </a:p>
        </p:txBody>
      </p:sp>
      <p:sp>
        <p:nvSpPr>
          <p:cNvPr id="17" name="Oval 16"/>
          <p:cNvSpPr/>
          <p:nvPr/>
        </p:nvSpPr>
        <p:spPr>
          <a:xfrm>
            <a:off x="5852159" y="3474720"/>
            <a:ext cx="329184" cy="329184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9240" y="3977639"/>
            <a:ext cx="1371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0E8C7F"/>
                </a:solidFill>
                <a:latin typeface="Calibri"/>
              </a:rPr>
              <a:t>10:58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434840"/>
            <a:ext cx="146304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Defender: обнаружение 1116/1117; всплеск на дашборде</a:t>
            </a:r>
          </a:p>
        </p:txBody>
      </p:sp>
      <p:sp>
        <p:nvSpPr>
          <p:cNvPr id="20" name="Oval 19"/>
          <p:cNvSpPr/>
          <p:nvPr/>
        </p:nvSpPr>
        <p:spPr>
          <a:xfrm>
            <a:off x="7452360" y="3474720"/>
            <a:ext cx="329184" cy="329184"/>
          </a:xfrm>
          <a:prstGeom prst="ellipse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2834640"/>
            <a:ext cx="1371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E5AA8"/>
                </a:solidFill>
                <a:latin typeface="Calibri"/>
              </a:rPr>
              <a:t>11:05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371600"/>
            <a:ext cx="1463040" cy="1371600"/>
          </a:xfrm>
          <a:prstGeom prst="rect">
            <a:avLst/>
          </a:prstGeom>
          <a:noFill/>
        </p:spPr>
        <p:txBody>
          <a:bodyPr wrap="square" lIns="45720" tIns="27432" rIns="45720" bIns="27432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Узел определён, правила Block на МЭ, порт коммутатора отключён</a:t>
            </a:r>
          </a:p>
        </p:txBody>
      </p:sp>
      <p:sp>
        <p:nvSpPr>
          <p:cNvPr id="23" name="Oval 22"/>
          <p:cNvSpPr/>
          <p:nvPr/>
        </p:nvSpPr>
        <p:spPr>
          <a:xfrm>
            <a:off x="9052560" y="3474720"/>
            <a:ext cx="329184" cy="329184"/>
          </a:xfrm>
          <a:prstGeom prst="ellipse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49640" y="3977639"/>
            <a:ext cx="1371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1E5AA8"/>
                </a:solidFill>
                <a:latin typeface="Calibri"/>
              </a:rPr>
              <a:t>11:20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4434840"/>
            <a:ext cx="146304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Process Explorer + Autoruns: процесс остановлен, автозапуск удалён</a:t>
            </a:r>
          </a:p>
        </p:txBody>
      </p:sp>
      <p:sp>
        <p:nvSpPr>
          <p:cNvPr id="26" name="Oval 25"/>
          <p:cNvSpPr/>
          <p:nvPr/>
        </p:nvSpPr>
        <p:spPr>
          <a:xfrm>
            <a:off x="10652760" y="3474720"/>
            <a:ext cx="329184" cy="329184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49840" y="2834640"/>
            <a:ext cx="1371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0E8C7F"/>
                </a:solidFill>
                <a:latin typeface="Calibri"/>
              </a:rPr>
              <a:t>12:30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19" y="1371600"/>
            <a:ext cx="1463040" cy="1371600"/>
          </a:xfrm>
          <a:prstGeom prst="rect">
            <a:avLst/>
          </a:prstGeom>
          <a:noFill/>
        </p:spPr>
        <p:txBody>
          <a:bodyPr wrap="square" lIns="45720" tIns="27432" rIns="45720" bIns="27432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Проверка, смена паролей, наблюдение 14 суток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15000"/>
            <a:ext cx="11247120" cy="5943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5715000"/>
            <a:ext cx="64008" cy="594360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76072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Время от заражения до изоляции: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≈ 28 минут. Сократить его позволяют оповещения Wazuh и фильтрация исходящего трафика.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Выводы по инциденту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11880" cy="48463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611880" cy="1097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3108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62828"/>
                </a:solidFill>
                <a:latin typeface="Calibri"/>
              </a:rPr>
              <a:t>Что произошло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3108960" cy="3840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F2937"/>
                </a:solidFill>
                <a:latin typeface="Calibri"/>
              </a:rPr>
              <a:t>Рабочая станция WS-ACC-07 (192.168.1.55) заражена через фишинговое вложение. ВПО svch0st.exe установило канал управления на 203.0.113.77:4444 и закрепилось в четырёх точках автозапуска.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3611880" cy="48463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1280160"/>
            <a:ext cx="3611880" cy="109728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600200"/>
            <a:ext cx="3108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E86A1C"/>
                </a:solidFill>
                <a:latin typeface="Calibri"/>
              </a:rPr>
              <a:t>Причины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94560"/>
            <a:ext cx="3108960" cy="3840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F2937"/>
                </a:solidFill>
                <a:latin typeface="Calibri"/>
              </a:rPr>
              <a:t>МЭ разрешал любой исходящий трафик из LAN; пользователь мог запустить .exe из «Загрузок»; сигнатуры Defender распознали ВПО лишь через ~20 минут.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3611880" cy="48463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3611880" cy="109728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600200"/>
            <a:ext cx="3108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E8C7F"/>
                </a:solidFill>
                <a:latin typeface="Calibri"/>
              </a:rPr>
              <a:t>Что сработало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3108960" cy="3840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F2937"/>
                </a:solidFill>
                <a:latin typeface="Calibri"/>
              </a:rPr>
              <a:t>Журнал МЭ и дашборд Wazuh быстро указали на узел; Process Explorer и Autoruns позволили найти процесс и все механизмы закрепления.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" y="246888"/>
            <a:ext cx="1143000" cy="420624"/>
          </a:xfrm>
          <a:prstGeom prst="roundRect">
            <a:avLst>
              <a:gd name="adj" fmla="val 30000"/>
            </a:avLst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46888"/>
            <a:ext cx="114300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Шаг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Меры по усилению защиты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11880" cy="153619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64008" cy="15361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44168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Фильтрация исходящего трафика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32918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Default deny, выход только через прокси/DNS-фильтр; блок 4444 и нестандартных портов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234440"/>
            <a:ext cx="3611880" cy="153619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1234440"/>
            <a:ext cx="64008" cy="15361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344168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Сегментация сети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37360"/>
            <a:ext cx="32918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Отдельные VLAN, запрет трафика «рабочая станция — рабочая станция», карантинный VLAN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234440"/>
            <a:ext cx="3611880" cy="153619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64008" cy="1536192"/>
          </a:xfrm>
          <a:prstGeom prst="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344168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Sysmon + Wazuh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737360"/>
            <a:ext cx="32918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События 1, 3, 11, 13; правила на автозапуск и соединения из %AppData%/%Temp%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26080"/>
            <a:ext cx="3611880" cy="153619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926080"/>
            <a:ext cx="64008" cy="1536192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035808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Оповещения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29000"/>
            <a:ext cx="32918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Мгновенные уведомления по правилам 100101/100102 и событиям 5001/5007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2926080"/>
            <a:ext cx="3611880" cy="153619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51960" y="2926080"/>
            <a:ext cx="64008" cy="1536192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0" y="3035808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Контроль приложений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429000"/>
            <a:ext cx="32918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AppLocker / WDAC: запрет запуска из %AppData%, %Temp%, «Загрузок»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926080"/>
            <a:ext cx="3611880" cy="153619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2926080"/>
            <a:ext cx="64008" cy="1536192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3035808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Минимум привилегий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429000"/>
            <a:ext cx="32918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Пользователи без прав администратора, LAPS для локальных админов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17720"/>
            <a:ext cx="3611880" cy="153619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617720"/>
            <a:ext cx="64008" cy="1536192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4727448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Защита почты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120640"/>
            <a:ext cx="32918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Блок вложений .exe/.js/.lnk, двойных расширений, макросов из интернета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4617720"/>
            <a:ext cx="3611880" cy="153619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51960" y="4617720"/>
            <a:ext cx="64008" cy="1536192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4727448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Обучение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120640"/>
            <a:ext cx="32918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Инструктаж по памятке, учебные фишинг-рассылки раз в квартал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4617720"/>
            <a:ext cx="3611880" cy="153619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46720" y="4617720"/>
            <a:ext cx="64008" cy="1536192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75320" y="4727448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937"/>
                </a:solidFill>
                <a:latin typeface="Calibri"/>
              </a:rPr>
              <a:t>Резервные копии и план 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5120640"/>
            <a:ext cx="329184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Копии 3-2-1, утверждённый план реагирования и регулярные учения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Мониторинг и реагирование на инциденты ИБ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5B6675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91440" cy="4206240"/>
          </a:xfrm>
          <a:prstGeom prst="rect">
            <a:avLst/>
          </a:prstGeom>
          <a:solidFill>
            <a:srgbClr val="E8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097280"/>
            <a:ext cx="100584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Итоги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10332720" cy="3840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F5A623"/>
                </a:solidFill>
                <a:latin typeface="Calibri"/>
              </a:rPr>
              <a:t>✓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Разработана памятка «10 правил безопасной работы в Windows» для инструктажа пользователей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800" b="1" i="0">
                <a:solidFill>
                  <a:srgbClr val="F5A623"/>
                </a:solidFill>
                <a:latin typeface="Calibri"/>
              </a:rPr>
              <a:t>✓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В Wazuh настроены сбор журнала Defender, правила av_block и дашборд блокировок за 24 часа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800" b="1" i="0">
                <a:solidFill>
                  <a:srgbClr val="F5A623"/>
                </a:solidFill>
                <a:latin typeface="Calibri"/>
              </a:rPr>
              <a:t>✓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По журналу МЭ определён заражённый узел WS-ACC-07 (192.168.1.55) и сервер управления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800" b="1" i="0">
                <a:solidFill>
                  <a:srgbClr val="F5A623"/>
                </a:solidFill>
                <a:latin typeface="Calibri"/>
              </a:rPr>
              <a:t>✓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На МЭ созданы правила изоляции узла, блокировки C2 и порта 4444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800" b="1" i="0">
                <a:solidFill>
                  <a:srgbClr val="F5A623"/>
                </a:solidFill>
                <a:latin typeface="Calibri"/>
              </a:rPr>
              <a:t>✓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С помощью Process Explorer и Autoruns ВПО остановлено и удалено со всеми точками закрепления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800" b="1" i="0">
                <a:solidFill>
                  <a:srgbClr val="F5A623"/>
                </a:solidFill>
                <a:latin typeface="Calibri"/>
              </a:rPr>
              <a:t>✓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Сформулированы выводы и 9 мер по усилению защиты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1660</Words>
  <Application>Microsoft Office PowerPoint</Application>
  <PresentationFormat>Широкоэкранный</PresentationFormat>
  <Paragraphs>260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Dmitry</cp:lastModifiedBy>
  <cp:revision>4</cp:revision>
  <dcterms:created xsi:type="dcterms:W3CDTF">2013-01-27T09:14:16Z</dcterms:created>
  <dcterms:modified xsi:type="dcterms:W3CDTF">2026-10-22T13:11:19Z</dcterms:modified>
  <cp:category/>
</cp:coreProperties>
</file>